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06" d="100"/>
          <a:sy n="206" d="100"/>
        </p:scale>
        <p:origin x="42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4836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365760"/>
            <a:ext cx="2560320" cy="2560320"/>
          </a:xfrm>
          <a:prstGeom prst="ellipse">
            <a:avLst/>
          </a:prstGeom>
          <a:solidFill>
            <a:srgbClr val="3A86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38160" y="182880"/>
            <a:ext cx="1645920" cy="1645920"/>
          </a:xfrm>
          <a:prstGeom prst="ellipse">
            <a:avLst/>
          </a:prstGeom>
          <a:solidFill>
            <a:srgbClr val="CADCF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2286000" cy="292608"/>
          </a:xfrm>
          <a:prstGeom prst="rect">
            <a:avLst/>
          </a:prstGeom>
          <a:solidFill>
            <a:srgbClr val="3A86FF">
              <a:alpha val="25000"/>
            </a:srgbClr>
          </a:solidFill>
          <a:ln w="6350">
            <a:solidFill>
              <a:srgbClr val="3A8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CADCFC"/>
                </a:solidFill>
              </a:rPr>
              <a:t>METHODOLOGY EXPLAINER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Rank Agencies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plain-language guide to the TOPSIS scoring model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3A86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Agency Performance · TOPSIS Multi-Criteria Ranking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Average the KPIs?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</a:rPr>
              <a:t>A simple weighted average hides dangerous trade-offs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114800" cy="3383280"/>
          </a:xfrm>
          <a:prstGeom prst="rect">
            <a:avLst/>
          </a:prstGeom>
          <a:solidFill>
            <a:srgbClr val="F4F7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73152" cy="3383280"/>
          </a:xfrm>
          <a:prstGeom prst="rect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80360" y="1572768"/>
            <a:ext cx="1417320" cy="237744"/>
          </a:xfrm>
          <a:prstGeom prst="rect">
            <a:avLst/>
          </a:prstGeom>
          <a:solidFill>
            <a:srgbClr val="22C55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80360" y="15727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C55E"/>
                </a:solidFill>
              </a:rPr>
              <a:t>Looks Good on Average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938528"/>
            <a:ext cx="3931920" cy="402336"/>
          </a:xfrm>
          <a:prstGeom prst="rect">
            <a:avLst/>
          </a:prstGeom>
          <a:solidFill>
            <a:srgbClr val="ED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8952" y="19385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Loss Ratio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93852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C55E"/>
                </a:solidFill>
              </a:rPr>
              <a:t>42%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414016"/>
            <a:ext cx="3931920" cy="402336"/>
          </a:xfrm>
          <a:prstGeom prst="rect">
            <a:avLst/>
          </a:prstGeom>
          <a:solidFill>
            <a:srgbClr val="F4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414016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8952" y="241401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Retention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414016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C55E"/>
                </a:solidFill>
              </a:rPr>
              <a:t>91%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2889504"/>
            <a:ext cx="3931920" cy="402336"/>
          </a:xfrm>
          <a:prstGeom prst="rect">
            <a:avLst/>
          </a:prstGeom>
          <a:solidFill>
            <a:srgbClr val="ED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889504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8952" y="288950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Submission Qual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2889504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F4444"/>
                </a:solidFill>
              </a:rPr>
              <a:t>28%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364992"/>
            <a:ext cx="3931920" cy="402336"/>
          </a:xfrm>
          <a:prstGeom prst="rect">
            <a:avLst/>
          </a:prstGeom>
          <a:solidFill>
            <a:srgbClr val="F4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364992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8952" y="336499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Expense Ratio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37560" y="336499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F4444"/>
                </a:solidFill>
              </a:rPr>
              <a:t>55%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3895344"/>
            <a:ext cx="393192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89534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Weighted Avg Score: </a:t>
            </a:r>
            <a:r>
              <a:rPr lang="en-US" sz="1600" b="1" dirty="0">
                <a:solidFill>
                  <a:srgbClr val="FFFFFF"/>
                </a:solidFill>
              </a:rPr>
              <a:t>62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434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99"/>
                </a:solidFill>
              </a:rPr>
              <a:t>Great on 2 KPIs, terrible on 2 — risky profile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1417320"/>
            <a:ext cx="4114800" cy="3383280"/>
          </a:xfrm>
          <a:prstGeom prst="rect">
            <a:avLst/>
          </a:prstGeom>
          <a:solidFill>
            <a:srgbClr val="F4F7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9160" y="1417320"/>
            <a:ext cx="73152" cy="3383280"/>
          </a:xfrm>
          <a:prstGeom prst="rect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15087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B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69480" y="1572768"/>
            <a:ext cx="1417320" cy="237744"/>
          </a:xfrm>
          <a:prstGeom prst="rect">
            <a:avLst/>
          </a:prstGeom>
          <a:solidFill>
            <a:srgbClr val="3A86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269480" y="15727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A86FF"/>
                </a:solidFill>
              </a:rPr>
              <a:t>More Balanced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800600" y="1938528"/>
            <a:ext cx="3931920" cy="402336"/>
          </a:xfrm>
          <a:prstGeom prst="rect">
            <a:avLst/>
          </a:prstGeom>
          <a:solidFill>
            <a:srgbClr val="ED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46320" y="1938528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942"/>
                </a:solidFill>
              </a:rPr>
              <a:t>~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48072" y="19385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Loss Ratio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726680" y="193852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4B942"/>
                </a:solidFill>
              </a:rPr>
              <a:t>58%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00600" y="2414016"/>
            <a:ext cx="3931920" cy="402336"/>
          </a:xfrm>
          <a:prstGeom prst="rect">
            <a:avLst/>
          </a:prstGeom>
          <a:solidFill>
            <a:srgbClr val="F4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46320" y="2414016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942"/>
                </a:solidFill>
              </a:rPr>
              <a:t>~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48072" y="241401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Retention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726680" y="2414016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4B942"/>
                </a:solidFill>
              </a:rPr>
              <a:t>77%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00600" y="2889504"/>
            <a:ext cx="3931920" cy="402336"/>
          </a:xfrm>
          <a:prstGeom prst="rect">
            <a:avLst/>
          </a:prstGeom>
          <a:solidFill>
            <a:srgbClr val="ED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46320" y="2889504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✓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148072" y="288950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Submission Qual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26680" y="2889504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C55E"/>
                </a:solidFill>
              </a:rPr>
              <a:t>72%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800600" y="3364992"/>
            <a:ext cx="3931920" cy="402336"/>
          </a:xfrm>
          <a:prstGeom prst="rect">
            <a:avLst/>
          </a:prstGeom>
          <a:solidFill>
            <a:srgbClr val="F4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46320" y="3364992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✓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148072" y="336499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Expense Ratio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726680" y="336499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C55E"/>
                </a:solidFill>
              </a:rPr>
              <a:t>31%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800600" y="3895344"/>
            <a:ext cx="393192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46320" y="389534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Weighted Avg Score: </a:t>
            </a:r>
            <a:r>
              <a:rPr lang="en-US" sz="1600" b="1" dirty="0">
                <a:solidFill>
                  <a:srgbClr val="FFFFFF"/>
                </a:solidFill>
              </a:rPr>
              <a:t>60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46320" y="4434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99"/>
                </a:solidFill>
              </a:rPr>
              <a:t>Consistent across all KPIs — lower real risk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251960" y="25603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VS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4206240" y="2514600"/>
            <a:ext cx="73152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206240" y="25146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VS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💡  TOPSIS solves this by rewarding balance — not just high averages — across all selected KPIs.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TOPSIS Works — 3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99"/>
                </a:solidFill>
              </a:rPr>
              <a:t>Under the hood: what the algorithm does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85039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594360" cy="1078992"/>
          </a:xfrm>
          <a:prstGeom prst="rect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325880"/>
            <a:ext cx="594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223760" y="1435608"/>
            <a:ext cx="1508760" cy="219456"/>
          </a:xfrm>
          <a:prstGeom prst="rect">
            <a:avLst/>
          </a:prstGeom>
          <a:solidFill>
            <a:srgbClr val="3A86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223760" y="143560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3A86FF"/>
                </a:solidFill>
              </a:rPr>
              <a:t>EVEN PLAYING FIELD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051560" y="1399032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&amp; Weight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1709928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KPI is scaled to a fair 0–1 range so a 91% retention rate and a $2M premium can be compared on the same scale. Your chosen weights are then applied — a KPI with weight 50 matters 5× more than one with weight 10.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514600"/>
            <a:ext cx="85039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514600"/>
            <a:ext cx="594360" cy="1078992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514600"/>
            <a:ext cx="594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2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7223760" y="2624328"/>
            <a:ext cx="1508760" cy="219456"/>
          </a:xfrm>
          <a:prstGeom prst="rect">
            <a:avLst/>
          </a:prstGeom>
          <a:solidFill>
            <a:srgbClr val="F4B942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23760" y="26243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4B942"/>
                </a:solidFill>
              </a:rPr>
              <a:t>SET THE BENCHMARKS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051560" y="2587752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Ideal Agency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2898648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TOPSIS identifies two phantom benchmarks: the Perfect Agency (best possible score on every weighted KPI) and the Worst Agency (worst on every KPI). No real agency needs to match these — they're just reference points.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703320"/>
            <a:ext cx="85039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3703320"/>
            <a:ext cx="594360" cy="107899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703320"/>
            <a:ext cx="594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3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7223760" y="3813048"/>
            <a:ext cx="1508760" cy="219456"/>
          </a:xfrm>
          <a:prstGeom prst="rect">
            <a:avLst/>
          </a:prstGeom>
          <a:solidFill>
            <a:srgbClr val="22C55E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223760" y="381304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22C55E"/>
                </a:solidFill>
              </a:rPr>
              <a:t>SCORE &amp; RANK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051560" y="3776472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Distance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51560" y="4087368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real agency is scored by how close it sits to the Perfect Agency and how far it sits from the Worst Agency. The Closeness Coefficient (CC) combines both: CC near 1.0 = excellent, CC near 0.0 = poor.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Output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40"/>
                </a:solidFill>
              </a:rPr>
              <a:t>The Closeness Coefficient (CC)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8988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</a:rPr>
              <a:t>CC is the single score produced for each agency. Think of it as a percentile of balanced performance across your chosen KPIs.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212848"/>
            <a:ext cx="1327709" cy="347472"/>
          </a:xfrm>
          <a:prstGeom prst="rect">
            <a:avLst/>
          </a:prstGeom>
          <a:solidFill>
            <a:srgbClr val="EF4444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93469" y="2212848"/>
            <a:ext cx="1367942" cy="347472"/>
          </a:xfrm>
          <a:prstGeom prst="rect">
            <a:avLst/>
          </a:prstGeom>
          <a:solidFill>
            <a:srgbClr val="F4B942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061411" y="2212848"/>
            <a:ext cx="1327709" cy="347472"/>
          </a:xfrm>
          <a:prstGeom prst="rect">
            <a:avLst/>
          </a:prstGeom>
          <a:solidFill>
            <a:srgbClr val="22C55E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21284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F4444"/>
                </a:solidFill>
              </a:rPr>
              <a:t>0.0</a:t>
            </a:r>
            <a:endParaRPr lang="en-US" sz="950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EF4444"/>
                </a:solidFill>
              </a:rPr>
              <a:t>Weak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75104" y="221284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340"/>
                </a:solidFill>
              </a:rPr>
              <a:t>0.5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340"/>
                </a:solidFill>
              </a:rPr>
              <a:t>Moderate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02813" y="221284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C55E"/>
                </a:solidFill>
              </a:rPr>
              <a:t>1.0</a:t>
            </a:r>
            <a:endParaRPr lang="en-US" sz="950" dirty="0"/>
          </a:p>
          <a:p>
            <a:pPr marL="0" indent="0" algn="r">
              <a:buNone/>
            </a:pPr>
            <a:r>
              <a:rPr lang="en-US" sz="950" b="1" dirty="0">
                <a:solidFill>
                  <a:srgbClr val="22C55E"/>
                </a:solidFill>
              </a:rPr>
              <a:t>Strong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69748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</a:rPr>
              <a:t>Example Ranking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54096"/>
          <a:ext cx="4023360" cy="173736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Agency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CC Score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#1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Meadowbrook Ins.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0.812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#2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Summit Agency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0.764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#3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Coastal Partners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0.701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#4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Riverside Group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0.538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709160" y="960120"/>
            <a:ext cx="36576" cy="39319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937760" y="10058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40"/>
                </a:solidFill>
              </a:rPr>
              <a:t>What Changes the Ranking?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937760" y="1444752"/>
            <a:ext cx="420624" cy="420624"/>
          </a:xfrm>
          <a:prstGeom prst="ellipse">
            <a:avLst/>
          </a:prstGeom>
          <a:solidFill>
            <a:srgbClr val="3A86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937760" y="14447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⚖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486400" y="14538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Weights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0" y="1709928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</a:rPr>
              <a:t>Increase a KPI's weight and agencies strong in that area rise in rank. Try the presets for quick executive views.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937760" y="2560320"/>
            <a:ext cx="420624" cy="420624"/>
          </a:xfrm>
          <a:prstGeom prst="ellipse">
            <a:avLst/>
          </a:prstGeom>
          <a:solidFill>
            <a:srgbClr val="3A86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937760" y="25603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486400" y="25694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Filters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0" y="2825496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</a:rPr>
              <a:t>Filtering by State or LOB changes which peers are compared — ranking is always relative to the visible pool.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937760" y="3675888"/>
            <a:ext cx="420624" cy="420624"/>
          </a:xfrm>
          <a:prstGeom prst="ellipse">
            <a:avLst/>
          </a:prstGeom>
          <a:solidFill>
            <a:srgbClr val="3A86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937760" y="36758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486400" y="36850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Active KPIs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486400" y="394106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</a:rPr>
              <a:t>Setting a weight to 0 removes that KPI from the calculation entirely. Fewer KPIs = simpler, more focused scoring.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D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99"/>
                </a:solidFill>
              </a:rPr>
              <a:t>Ranks are always relative to the current filtered pool — a Rank #1 in Auto ≠ Rank #1 across all LOBs.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3A86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Cheat Sheet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</a:rPr>
              <a:t>Pick a preset → instantly answer an executive question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ADCFC"/>
                </a:solidFill>
              </a:rPr>
              <a:t>Executive Question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11880" y="11887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ADCFC"/>
                </a:solidFill>
              </a:rPr>
              <a:t>Select This Preset →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0" y="11887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ADCFC"/>
                </a:solidFill>
              </a:rPr>
              <a:t>Dominant Weight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8458200" cy="27432"/>
          </a:xfrm>
          <a:prstGeom prst="rect">
            <a:avLst/>
          </a:prstGeom>
          <a:solidFill>
            <a:srgbClr val="CADCFC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7472" y="1572768"/>
            <a:ext cx="8476488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4048" y="173736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" y="1572768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</a:rPr>
              <a:t>"Who keeps our losses low?"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11880" y="1709928"/>
            <a:ext cx="2423160" cy="292608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11880" y="17099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Loss Ratio First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0" y="157276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50% Loss Ratio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2194560"/>
            <a:ext cx="8476488" cy="566928"/>
          </a:xfrm>
          <a:prstGeom prst="rect">
            <a:avLst/>
          </a:prstGeom>
          <a:solidFill>
            <a:srgbClr val="CADCF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84048" y="2359152"/>
            <a:ext cx="228600" cy="228600"/>
          </a:xfrm>
          <a:prstGeom prst="ellipse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" y="2194560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</a:rPr>
              <a:t>"Who drives the most premium?"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11880" y="2331720"/>
            <a:ext cx="2423160" cy="292608"/>
          </a:xfrm>
          <a:prstGeom prst="rect">
            <a:avLst/>
          </a:prstGeom>
          <a:solidFill>
            <a:srgbClr val="F4B94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11880" y="23317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Growth (Earned Premium)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0" y="219456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942"/>
                </a:solidFill>
              </a:rPr>
              <a:t>50% Earned Premium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" y="2816352"/>
            <a:ext cx="8476488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84048" y="2980944"/>
            <a:ext cx="228600" cy="22860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6656" y="2816352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</a:rPr>
              <a:t>"Who keeps the book renewing?"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11880" y="2953512"/>
            <a:ext cx="2423160" cy="292608"/>
          </a:xfrm>
          <a:prstGeom prst="rect">
            <a:avLst/>
          </a:prstGeom>
          <a:solidFill>
            <a:srgbClr val="22C55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11880" y="29535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Loyalty (Retention)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0" y="281635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55% Retention Rate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" y="3438144"/>
            <a:ext cx="8476488" cy="566928"/>
          </a:xfrm>
          <a:prstGeom prst="rect">
            <a:avLst/>
          </a:prstGeom>
          <a:solidFill>
            <a:srgbClr val="CADCF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84048" y="3602736"/>
            <a:ext cx="228600" cy="228600"/>
          </a:xfrm>
          <a:prstGeom prst="ellipse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6656" y="3438144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</a:rPr>
              <a:t>"Who converts pipeline best?"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611880" y="3575304"/>
            <a:ext cx="2423160" cy="292608"/>
          </a:xfrm>
          <a:prstGeom prst="rect">
            <a:avLst/>
          </a:prstGeom>
          <a:solidFill>
            <a:srgbClr val="3A86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11880" y="357530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Sales Efficiency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0" y="3438144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86FF"/>
                </a:solidFill>
              </a:rPr>
              <a:t>55% Submission Quality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7472" y="4059936"/>
            <a:ext cx="8476488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84048" y="4224528"/>
            <a:ext cx="228600" cy="2286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76656" y="4059936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</a:rPr>
              <a:t>"Give me a balanced view."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611880" y="4197096"/>
            <a:ext cx="2423160" cy="292608"/>
          </a:xfrm>
          <a:prstGeom prst="rect">
            <a:avLst/>
          </a:prstGeom>
          <a:solidFill>
            <a:srgbClr val="CADCFC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11880" y="419709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Balanced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17920" y="4059936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</a:rPr>
              <a:t>20% each KPI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4B942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4709160"/>
            <a:ext cx="84124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B942"/>
                </a:solidFill>
              </a:rPr>
              <a:t>Tip: You can fine-tune any weight slider after choosing a preset. Weights auto-normalize to 100%.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581</Words>
  <Application>Microsoft Office PowerPoint</Application>
  <PresentationFormat>On-screen Show (16:9)</PresentationFormat>
  <Paragraphs>117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TOPSIS Agency Ranking — Method Explainer</dc:title>
  <dc:subject>PptxGenJS Presentation</dc:subject>
  <dc:creator>PptxGenJS</dc:creator>
  <cp:lastModifiedBy>Sujay Sunil Nagvekar</cp:lastModifiedBy>
  <cp:revision>3</cp:revision>
  <dcterms:created xsi:type="dcterms:W3CDTF">2026-03-03T21:40:04Z</dcterms:created>
  <dcterms:modified xsi:type="dcterms:W3CDTF">2026-03-09T04:21:54Z</dcterms:modified>
</cp:coreProperties>
</file>